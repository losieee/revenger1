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3716000" cx="24384000"/>
  <p:notesSz cx="6858000" cy="9144000"/>
  <p:embeddedFontLst>
    <p:embeddedFont>
      <p:font typeface="Noto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Bhsmkl+6qRFqKYxP2cxaHEzr0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03fd5c7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b03fd5c7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03fd5c7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b03fd5c7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03fd5c7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b03fd5c7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03fd5c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b03fd5c75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b03fd5c7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b03fd5c7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03fd5c7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9b03fd5c75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b03fd5c7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b03fd5c75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71500" y="571500"/>
            <a:ext cx="3683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서재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2387600"/>
            <a:ext cx="13411200" cy="89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571500" y="571500"/>
            <a:ext cx="36830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식당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9200" y="2286000"/>
            <a:ext cx="16865600" cy="96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279400" y="571500"/>
            <a:ext cx="4254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휴게실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9700" y="2222500"/>
            <a:ext cx="16471900" cy="85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8521700" y="11239500"/>
            <a:ext cx="73279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내부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스토리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이스터에그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포함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292100" y="609600"/>
            <a:ext cx="73152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세탁실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&amp;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세탁기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0629900" y="11239500"/>
            <a:ext cx="31242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환풍구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포함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2900" y="2603500"/>
            <a:ext cx="8432800" cy="77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2000" y="2298700"/>
            <a:ext cx="11125200" cy="83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841500" y="609600"/>
            <a:ext cx="4254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응접실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-88900" y="11798300"/>
            <a:ext cx="24574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이미지에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테이블과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소파의자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서로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마주보게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각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맞춰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배치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거울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명화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)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배치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커튼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배치</a:t>
            </a:r>
            <a:endParaRPr/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8000" y="2463800"/>
            <a:ext cx="16395700" cy="88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130300" y="558800"/>
            <a:ext cx="56769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7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저택</a:t>
            </a:r>
            <a:r>
              <a:rPr b="1" i="0" lang="ko-KR" sz="4799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7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로비</a:t>
            </a:r>
            <a:r>
              <a:rPr b="1" i="0" lang="ko-KR" sz="4799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7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r>
              <a:rPr b="1" i="0" lang="ko-KR" sz="4799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 </a:t>
            </a:r>
            <a:br>
              <a:rPr b="1" i="0" lang="ko-KR" sz="4799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</a:b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-88900" y="11798300"/>
            <a:ext cx="245745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샹들리에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중간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구조물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분수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동상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좌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/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나뉘어지는게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분명하도록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5100" y="2501900"/>
            <a:ext cx="16573500" cy="81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482600" y="685800"/>
            <a:ext cx="103759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저택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복도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&amp;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복도에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숨는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곳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200" y="3530600"/>
            <a:ext cx="9588500" cy="6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52200" y="4000500"/>
            <a:ext cx="548640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814800" y="4546600"/>
            <a:ext cx="7493000" cy="49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863600" y="825500"/>
            <a:ext cx="66548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드레스룸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&amp;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배치</a:t>
            </a:r>
            <a:endParaRPr/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1500" y="3124200"/>
            <a:ext cx="11188700" cy="74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36600" y="6502400"/>
            <a:ext cx="10566400" cy="39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 txBox="1"/>
          <p:nvPr/>
        </p:nvSpPr>
        <p:spPr>
          <a:xfrm>
            <a:off x="1447800" y="825500"/>
            <a:ext cx="55372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침실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&amp;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배치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100" y="2501900"/>
            <a:ext cx="13322300" cy="869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0" y="5613400"/>
            <a:ext cx="9093200" cy="55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 txBox="1"/>
          <p:nvPr/>
        </p:nvSpPr>
        <p:spPr>
          <a:xfrm>
            <a:off x="1816100" y="825500"/>
            <a:ext cx="48133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게스트룸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168" name="Google Shape;16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6400" y="2590800"/>
            <a:ext cx="16471900" cy="87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9b03fd5c75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9b03fd5c75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b03fd5c75_0_49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별관 구조</a:t>
            </a:r>
            <a:endParaRPr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9b03fd5c75_0_49" title="fafae7794983bb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29500" y="901825"/>
            <a:ext cx="11757051" cy="117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9b03fd5c75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9b03fd5c75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9b03fd5c75_0_3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식량 창고</a:t>
            </a:r>
            <a:r>
              <a:rPr b="1" i="0" lang="ko-KR" sz="4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184" name="Google Shape;184;g39b03fd5c75_0_3" title="pngtree-barn-interior-with-hay-bales-image_1699474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2475" y="2346275"/>
            <a:ext cx="16139050" cy="92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9b03fd5c75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b03fd5c75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b03fd5c75_0_12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화장실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192" name="Google Shape;192;g39b03fd5c75_0_12" title="6738481-master-bath-in-luxury-home-with-tub-columns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850" y="2345125"/>
            <a:ext cx="15212451" cy="10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9b03fd5c75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9b03fd5c7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9b03fd5c75_0_23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침실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200" name="Google Shape;200;g39b03fd5c75_0_23" title="17686825-stylish-double-bedroom-in-australian-mansio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3850" y="1774825"/>
            <a:ext cx="16561799" cy="1103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9b03fd5c75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9b03fd5c75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9b03fd5c75_0_34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사격장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208" name="Google Shape;208;g39b03fd5c75_0_34" title="AKR20240111096400504_01_i_P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6150" y="2230925"/>
            <a:ext cx="15672999" cy="104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9b03fd5c75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9b03fd5c75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9b03fd5c75_0_57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초소</a:t>
            </a: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  <p:pic>
        <p:nvPicPr>
          <p:cNvPr id="216" name="Google Shape;216;g39b03fd5c75_0_57" title="7bed29fef07007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27225" y="983875"/>
            <a:ext cx="10027200" cy="1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5959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9b03fd5c75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1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9b03fd5c75_0_41" title="캡처.PNG"/>
          <p:cNvPicPr preferRelativeResize="0"/>
          <p:nvPr/>
        </p:nvPicPr>
        <p:blipFill rotWithShape="1">
          <a:blip r:embed="rId4">
            <a:alphaModFix/>
          </a:blip>
          <a:srcRect b="0" l="14044" r="14044" t="0"/>
          <a:stretch/>
        </p:blipFill>
        <p:spPr>
          <a:xfrm>
            <a:off x="0" y="0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9b03fd5c75_0_41"/>
          <p:cNvSpPr txBox="1"/>
          <p:nvPr/>
        </p:nvSpPr>
        <p:spPr>
          <a:xfrm>
            <a:off x="1816100" y="825500"/>
            <a:ext cx="48132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325">
            <a:noAutofit/>
          </a:bodyPr>
          <a:lstStyle/>
          <a:p>
            <a:pPr indent="0" lvl="0" marL="0" marR="0" rtl="0" algn="ctr">
              <a:lnSpc>
                <a:spcPct val="92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무기탄약고</a:t>
            </a:r>
            <a:r>
              <a:rPr lang="ko-KR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레퍼런스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