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Noto Sans KR"/>
      <p:regular r:id="rId21"/>
      <p:bold r:id="rId22"/>
    </p:embeddedFont>
    <p:embeddedFont>
      <p:font typeface="Noto Sans Black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zoKxw84vM+ZVfwM0bUlcVlZ6w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otoSansKR-bold.fntdata"/><Relationship Id="rId21" Type="http://schemas.openxmlformats.org/officeDocument/2006/relationships/font" Target="fonts/NotoSansKR-regular.fntdata"/><Relationship Id="rId24" Type="http://schemas.openxmlformats.org/officeDocument/2006/relationships/font" Target="fonts/NotoSansBlack-boldItalic.fntdata"/><Relationship Id="rId23" Type="http://schemas.openxmlformats.org/officeDocument/2006/relationships/font" Target="fonts/NotoSans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b31fa97b4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1b31fa97b44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b61611b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6b61611b6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77199c77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677199c772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77199c77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677199c772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e5507bd8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6e5507bd8f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77199c77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677199c772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77199c77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677199c772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77199c77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677199c772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77199c77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677199c772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c50265ea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6c50265ea7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8.jpg"/><Relationship Id="rId5" Type="http://schemas.openxmlformats.org/officeDocument/2006/relationships/image" Target="../media/image1.jpg"/><Relationship Id="rId6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96688" y="-171400"/>
            <a:ext cx="12457384" cy="7128792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730529" y="3625860"/>
            <a:ext cx="1847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151541" y="412991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856149" y="2190450"/>
            <a:ext cx="6479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ko-KR" sz="7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Revenger</a:t>
            </a:r>
            <a:endParaRPr b="0" i="0" sz="72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423592" y="6026225"/>
            <a:ext cx="45223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0" y="6007596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479376" y="1196752"/>
            <a:ext cx="15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개요</a:t>
            </a:r>
            <a:endParaRPr b="1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0" y="0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623392" y="2413337"/>
            <a:ext cx="10657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제목: </a:t>
            </a:r>
            <a:r>
              <a:rPr lang="ko-KR" sz="1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Revenger</a:t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장르: 잠입 액션 어드벤처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플랫폼: PC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타겟 층: 10대 ~ 30대, 잠입 액션을 즐기고 싶은 게이머들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0" y="6007596"/>
            <a:ext cx="12192000" cy="850404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0" y="0"/>
            <a:ext cx="12192000" cy="850404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476044" y="1922629"/>
            <a:ext cx="10657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게임 기획 의도 및 핵심 콘셉트</a:t>
            </a:r>
            <a:endParaRPr b="0" i="0" sz="1800" u="none" cap="none" strike="noStrike">
              <a:solidFill>
                <a:schemeClr val="lt1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476044" y="2626089"/>
            <a:ext cx="10657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컨트롤 향상: 잠입 및 </a:t>
            </a:r>
            <a:r>
              <a:rPr lang="ko-KR" sz="1800">
                <a:solidFill>
                  <a:schemeClr val="lt1"/>
                </a:solidFill>
              </a:rPr>
              <a:t>제압</a:t>
            </a: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을 하기 위한 섬세하고 조심스럽게 행동하는 게임이기 때문에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디테일한 컨트롤이 필요하며 자연스럽게 실력 상승 역시 기대해볼 수 있다.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다채로운 플레이 스타일: 잠입과 </a:t>
            </a:r>
            <a:r>
              <a:rPr lang="ko-KR" sz="1800">
                <a:solidFill>
                  <a:schemeClr val="lt1"/>
                </a:solidFill>
              </a:rPr>
              <a:t>제압이라는</a:t>
            </a: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큰 틀이 있지만 어떻게 플레이 할 것인지는 유저의 마음이다.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</a:t>
            </a:r>
            <a:r>
              <a:rPr lang="ko-KR" sz="1800">
                <a:solidFill>
                  <a:schemeClr val="lt1"/>
                </a:solidFill>
              </a:rPr>
              <a:t>개인의 다양한 플레이스타일과 무기 조합으로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자신만의 특별한 플레이를 즐길 수 있다.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0" i="0" sz="1800" u="none" cap="none" strike="noStrike">
              <a:solidFill>
                <a:schemeClr val="lt1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b31fa97b44_0_187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g1b31fa97b44_0_187"/>
          <p:cNvSpPr/>
          <p:nvPr/>
        </p:nvSpPr>
        <p:spPr>
          <a:xfrm>
            <a:off x="0" y="6007596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g1b31fa97b44_0_187"/>
          <p:cNvSpPr/>
          <p:nvPr/>
        </p:nvSpPr>
        <p:spPr>
          <a:xfrm>
            <a:off x="0" y="0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g1b31fa97b44_0_187"/>
          <p:cNvSpPr txBox="1"/>
          <p:nvPr/>
        </p:nvSpPr>
        <p:spPr>
          <a:xfrm>
            <a:off x="479376" y="1196752"/>
            <a:ext cx="36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구성 &amp; 게임 핵심 메커니즘 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" name="Google Shape;115;g1b31fa97b44_0_187"/>
          <p:cNvSpPr txBox="1"/>
          <p:nvPr/>
        </p:nvSpPr>
        <p:spPr>
          <a:xfrm>
            <a:off x="737300" y="2224350"/>
            <a:ext cx="238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Noto Sans KR"/>
              <a:buChar char="●"/>
            </a:pPr>
            <a:r>
              <a:rPr b="1" lang="ko-KR" sz="2000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미션</a:t>
            </a:r>
            <a:endParaRPr b="1" i="0" sz="2000" u="none" cap="none" strike="noStrike">
              <a:solidFill>
                <a:srgbClr val="BFBFB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g1b31fa97b44_0_187"/>
          <p:cNvSpPr txBox="1"/>
          <p:nvPr/>
        </p:nvSpPr>
        <p:spPr>
          <a:xfrm>
            <a:off x="743250" y="2823950"/>
            <a:ext cx="29718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플레이어가 은신처에서 대기하다가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파트너가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미션을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가져오면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유저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가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수락한 뒤,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미션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장소로 향한다.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유저가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미션을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실패하게 된다면 은신처로 돌아가 처음부터 다시 재도전해야한다.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b61611b6c_0_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g36b61611b6c_0_0"/>
          <p:cNvSpPr/>
          <p:nvPr/>
        </p:nvSpPr>
        <p:spPr>
          <a:xfrm>
            <a:off x="0" y="6007596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g36b61611b6c_0_0"/>
          <p:cNvSpPr/>
          <p:nvPr/>
        </p:nvSpPr>
        <p:spPr>
          <a:xfrm>
            <a:off x="0" y="0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g36b61611b6c_0_0"/>
          <p:cNvSpPr txBox="1"/>
          <p:nvPr/>
        </p:nvSpPr>
        <p:spPr>
          <a:xfrm>
            <a:off x="479376" y="1196752"/>
            <a:ext cx="36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구성 &amp; 게임 핵심 메커니즘 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g36b61611b6c_0_0"/>
          <p:cNvSpPr txBox="1"/>
          <p:nvPr/>
        </p:nvSpPr>
        <p:spPr>
          <a:xfrm>
            <a:off x="737300" y="2224350"/>
            <a:ext cx="26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Noto Sans KR"/>
              <a:buChar char="●"/>
            </a:pPr>
            <a:r>
              <a:rPr b="1" lang="ko-KR" sz="2000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플레이어(주인공)</a:t>
            </a:r>
            <a:endParaRPr b="1" i="0" sz="2000" u="none" cap="none" strike="noStrike">
              <a:solidFill>
                <a:srgbClr val="BFBFB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" name="Google Shape;126;g36b61611b6c_0_0"/>
          <p:cNvSpPr txBox="1"/>
          <p:nvPr/>
        </p:nvSpPr>
        <p:spPr>
          <a:xfrm>
            <a:off x="743250" y="2823950"/>
            <a:ext cx="29718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전직 장교 출신으로 1차 대전 당시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수많은 공을 쌓았으나, 결국 패배의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책임을 물어 강제로 전역한 뒤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폐인처럼 살아가고있다.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개인의 전투력은 뛰어난 편이 아니지만 잠입과 제압 기술은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독일 제일의 실력자로 손꼽힌다.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27" name="Google Shape;127;g36b61611b6c_0_0" title="ra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4200" y="1610300"/>
            <a:ext cx="5870100" cy="39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77199c772_0_57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g3677199c772_0_57"/>
          <p:cNvSpPr/>
          <p:nvPr/>
        </p:nvSpPr>
        <p:spPr>
          <a:xfrm>
            <a:off x="0" y="6007596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g3677199c772_0_57"/>
          <p:cNvSpPr/>
          <p:nvPr/>
        </p:nvSpPr>
        <p:spPr>
          <a:xfrm>
            <a:off x="0" y="0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g3677199c772_0_57"/>
          <p:cNvSpPr txBox="1"/>
          <p:nvPr/>
        </p:nvSpPr>
        <p:spPr>
          <a:xfrm>
            <a:off x="479376" y="1196752"/>
            <a:ext cx="36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구성 &amp; 게임 핵심 메커니즘 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" name="Google Shape;136;g3677199c772_0_57"/>
          <p:cNvSpPr txBox="1"/>
          <p:nvPr/>
        </p:nvSpPr>
        <p:spPr>
          <a:xfrm>
            <a:off x="737300" y="2224350"/>
            <a:ext cx="26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Noto Sans KR"/>
              <a:buChar char="●"/>
            </a:pPr>
            <a:r>
              <a:rPr b="1" i="0" lang="ko-KR" sz="2000" u="none" cap="none" strike="noStrike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파트너(조력자)</a:t>
            </a:r>
            <a:endParaRPr b="1" i="0" sz="2000" u="none" cap="none" strike="noStrike">
              <a:solidFill>
                <a:srgbClr val="BFBFB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7" name="Google Shape;137;g3677199c772_0_57"/>
          <p:cNvSpPr txBox="1"/>
          <p:nvPr/>
        </p:nvSpPr>
        <p:spPr>
          <a:xfrm>
            <a:off x="743250" y="2823950"/>
            <a:ext cx="29718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플레이어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의 장교 동기이자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오랫동안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함께한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친구 사이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로 플레이어의 복수를 위하여 정보를 탐색한 뒤,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총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명의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원수를 찾아내어 플레이어에게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미션을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전달한다.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8" name="Google Shape;138;g3677199c772_0_57" title="ra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5050" y="1740675"/>
            <a:ext cx="6094499" cy="406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677199c772_0_57" title="ra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42025" y="1740675"/>
            <a:ext cx="2143150" cy="40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77199c772_0_67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g3677199c772_0_67"/>
          <p:cNvSpPr/>
          <p:nvPr/>
        </p:nvSpPr>
        <p:spPr>
          <a:xfrm>
            <a:off x="0" y="6007596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g3677199c772_0_67"/>
          <p:cNvSpPr/>
          <p:nvPr/>
        </p:nvSpPr>
        <p:spPr>
          <a:xfrm>
            <a:off x="0" y="0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g3677199c772_0_67"/>
          <p:cNvSpPr txBox="1"/>
          <p:nvPr/>
        </p:nvSpPr>
        <p:spPr>
          <a:xfrm>
            <a:off x="479376" y="1196752"/>
            <a:ext cx="36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구성 &amp; 게임 핵심 메커니즘 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Google Shape;148;g3677199c772_0_67"/>
          <p:cNvSpPr txBox="1"/>
          <p:nvPr/>
        </p:nvSpPr>
        <p:spPr>
          <a:xfrm>
            <a:off x="737300" y="2224350"/>
            <a:ext cx="26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Noto Sans KR"/>
              <a:buChar char="●"/>
            </a:pPr>
            <a:r>
              <a:rPr b="1" i="0" lang="ko-KR" sz="2000" u="none" cap="none" strike="noStrike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원수(</a:t>
            </a:r>
            <a:r>
              <a:rPr b="1" lang="ko-KR" sz="2000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부패 정치인</a:t>
            </a:r>
            <a:r>
              <a:rPr b="1" i="0" lang="ko-KR" sz="2000" u="none" cap="none" strike="noStrike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b="1" i="0" sz="2000" u="none" cap="none" strike="noStrike">
              <a:solidFill>
                <a:srgbClr val="BFBFB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g3677199c772_0_67"/>
          <p:cNvSpPr txBox="1"/>
          <p:nvPr/>
        </p:nvSpPr>
        <p:spPr>
          <a:xfrm>
            <a:off x="743250" y="2823950"/>
            <a:ext cx="29718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1스테이지의 중간 보스로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정부 고위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정치인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이며 1차 대전 패배 후 뛰어난 공을 세웠던 플레이어를 시기하여 플레이어를 나락으로 보내버리고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순식간에 모든 것을 잃어버리게 된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플레이어는 파트너의 도움 이전까지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폐인에 가까운 삶을 살아가야만했다.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0" name="Google Shape;150;g3677199c772_0_67" title="ra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850" y="1646025"/>
            <a:ext cx="7853948" cy="4147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677199c772_0_67" title="캡처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3815" y="1646025"/>
            <a:ext cx="1884521" cy="414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e5507bd8f_3_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g36e5507bd8f_3_0"/>
          <p:cNvSpPr/>
          <p:nvPr/>
        </p:nvSpPr>
        <p:spPr>
          <a:xfrm>
            <a:off x="0" y="6007596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g36e5507bd8f_3_0"/>
          <p:cNvSpPr/>
          <p:nvPr/>
        </p:nvSpPr>
        <p:spPr>
          <a:xfrm>
            <a:off x="0" y="0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g36e5507bd8f_3_0"/>
          <p:cNvSpPr txBox="1"/>
          <p:nvPr/>
        </p:nvSpPr>
        <p:spPr>
          <a:xfrm>
            <a:off x="479376" y="1196752"/>
            <a:ext cx="36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구성 &amp; 게임 핵심 메커니즘 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Google Shape;160;g36e5507bd8f_3_0"/>
          <p:cNvSpPr txBox="1"/>
          <p:nvPr/>
        </p:nvSpPr>
        <p:spPr>
          <a:xfrm>
            <a:off x="737300" y="2224350"/>
            <a:ext cx="26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Noto Sans KR"/>
              <a:buChar char="●"/>
            </a:pPr>
            <a:r>
              <a:rPr b="1" i="0" lang="ko-KR" sz="2000" u="none" cap="none" strike="noStrike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원수(</a:t>
            </a:r>
            <a:r>
              <a:rPr b="1" lang="ko-KR" sz="2000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군 장성</a:t>
            </a:r>
            <a:r>
              <a:rPr b="1" i="0" lang="ko-KR" sz="2000" u="none" cap="none" strike="noStrike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b="1" i="0" sz="2000" u="none" cap="none" strike="noStrike">
              <a:solidFill>
                <a:srgbClr val="BFBFB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Google Shape;161;g36e5507bd8f_3_0"/>
          <p:cNvSpPr txBox="1"/>
          <p:nvPr/>
        </p:nvSpPr>
        <p:spPr>
          <a:xfrm>
            <a:off x="743250" y="2823950"/>
            <a:ext cx="29718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1스테이지의 최종 보스로 플레이어의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장교 시절 상관이었다.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1차 대전 패배 후 뛰어난 공을 세웠던 플레이어를 시기하여 플레이어를 나락으로 보내버리고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순식간에 모든 것을 잃어버리게 된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플레이어는 파트너의 도움 이전까지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폐인에 가까운 삶을 살아가야만했다.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62" name="Google Shape;162;g36e5507bd8f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5375" y="1369725"/>
            <a:ext cx="4880699" cy="411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77199c772_0_17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g3677199c772_0_17"/>
          <p:cNvSpPr/>
          <p:nvPr/>
        </p:nvSpPr>
        <p:spPr>
          <a:xfrm>
            <a:off x="0" y="6007596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g3677199c772_0_17"/>
          <p:cNvSpPr/>
          <p:nvPr/>
        </p:nvSpPr>
        <p:spPr>
          <a:xfrm>
            <a:off x="0" y="0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g3677199c772_0_17"/>
          <p:cNvSpPr txBox="1"/>
          <p:nvPr/>
        </p:nvSpPr>
        <p:spPr>
          <a:xfrm>
            <a:off x="479376" y="1196752"/>
            <a:ext cx="36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구성 &amp; 게임 핵심 메커니즘 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g3677199c772_0_17"/>
          <p:cNvSpPr txBox="1"/>
          <p:nvPr/>
        </p:nvSpPr>
        <p:spPr>
          <a:xfrm>
            <a:off x="737300" y="2224350"/>
            <a:ext cx="26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Noto Sans KR"/>
              <a:buChar char="●"/>
            </a:pPr>
            <a:r>
              <a:rPr b="1" i="0" lang="ko-KR" sz="2000" u="none" cap="none" strike="noStrike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무기</a:t>
            </a:r>
            <a:endParaRPr b="1" i="0" sz="2000" u="none" cap="none" strike="noStrike">
              <a:solidFill>
                <a:srgbClr val="BFBFB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2" name="Google Shape;172;g3677199c772_0_17"/>
          <p:cNvSpPr txBox="1"/>
          <p:nvPr/>
        </p:nvSpPr>
        <p:spPr>
          <a:xfrm>
            <a:off x="743250" y="2823950"/>
            <a:ext cx="29718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플레이어가 의뢰를 수락하고 의뢰 장소로 향하기 전에 최종 점검을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할 수 있는 화면이 뜬다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이 화면에서 무기를 고를 수 있으며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주 무기로는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고장난 권총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빠루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야구 배트 3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가지 중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딱 하나를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고를 수 있다.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73" name="Google Shape;173;g3677199c772_0_17" title="805fcc7ecf62a7cccf8421c57f15a34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7500" y="1167950"/>
            <a:ext cx="1704625" cy="228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677199c772_0_17" title="f605cfcfe2a1e9338934f5046a6de318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6025" y="3453400"/>
            <a:ext cx="1704624" cy="228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677199c772_0_17" title="0932e835c7f40243b06896e455c8a56d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2875" y="1167950"/>
            <a:ext cx="1704625" cy="228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77199c772_0_9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g3677199c772_0_94"/>
          <p:cNvSpPr/>
          <p:nvPr/>
        </p:nvSpPr>
        <p:spPr>
          <a:xfrm>
            <a:off x="0" y="6007596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g3677199c772_0_94"/>
          <p:cNvSpPr/>
          <p:nvPr/>
        </p:nvSpPr>
        <p:spPr>
          <a:xfrm>
            <a:off x="0" y="0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g3677199c772_0_94"/>
          <p:cNvSpPr txBox="1"/>
          <p:nvPr/>
        </p:nvSpPr>
        <p:spPr>
          <a:xfrm>
            <a:off x="479376" y="1196752"/>
            <a:ext cx="36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구성 &amp; 게임 핵심 메커니즘 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4" name="Google Shape;184;g3677199c772_0_94"/>
          <p:cNvSpPr txBox="1"/>
          <p:nvPr/>
        </p:nvSpPr>
        <p:spPr>
          <a:xfrm>
            <a:off x="737300" y="2224350"/>
            <a:ext cx="26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Noto Sans KR"/>
              <a:buChar char="●"/>
            </a:pPr>
            <a:r>
              <a:rPr b="1" i="0" lang="ko-KR" sz="2000" u="none" cap="none" strike="noStrike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경호원(NPC)</a:t>
            </a:r>
            <a:endParaRPr b="1" i="0" sz="2000" u="none" cap="none" strike="noStrike">
              <a:solidFill>
                <a:srgbClr val="BFBFB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g3677199c772_0_94"/>
          <p:cNvSpPr txBox="1"/>
          <p:nvPr/>
        </p:nvSpPr>
        <p:spPr>
          <a:xfrm>
            <a:off x="743250" y="2823950"/>
            <a:ext cx="33720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원수를 호위하는 경호원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들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로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미션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장소를 배회하며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정찰과 감시를 하고있다.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전투가 중심이 아니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라 잠입과 제압이 중심이기때문에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들키지 않게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조심스럽게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회피하거나 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제압하여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움직여야한다.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77199c772_0_85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g3677199c772_0_85"/>
          <p:cNvSpPr/>
          <p:nvPr/>
        </p:nvSpPr>
        <p:spPr>
          <a:xfrm>
            <a:off x="0" y="6007596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g3677199c772_0_85"/>
          <p:cNvSpPr/>
          <p:nvPr/>
        </p:nvSpPr>
        <p:spPr>
          <a:xfrm>
            <a:off x="0" y="0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g3677199c772_0_85"/>
          <p:cNvSpPr txBox="1"/>
          <p:nvPr/>
        </p:nvSpPr>
        <p:spPr>
          <a:xfrm>
            <a:off x="479376" y="1196752"/>
            <a:ext cx="36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구성 &amp; 게임 핵심 메커니즘 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4" name="Google Shape;194;g3677199c772_0_85"/>
          <p:cNvSpPr txBox="1"/>
          <p:nvPr/>
        </p:nvSpPr>
        <p:spPr>
          <a:xfrm>
            <a:off x="737300" y="2224350"/>
            <a:ext cx="26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Noto Sans KR"/>
              <a:buChar char="●"/>
            </a:pPr>
            <a:r>
              <a:rPr b="1" i="0" lang="ko-KR" sz="2000" u="none" cap="none" strike="noStrike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잠입</a:t>
            </a:r>
            <a:endParaRPr b="1" i="0" sz="2000" u="none" cap="none" strike="noStrike">
              <a:solidFill>
                <a:srgbClr val="BFBFB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5" name="Google Shape;195;g3677199c772_0_85"/>
          <p:cNvSpPr txBox="1"/>
          <p:nvPr/>
        </p:nvSpPr>
        <p:spPr>
          <a:xfrm>
            <a:off x="743250" y="2823950"/>
            <a:ext cx="3372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명의 원수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는 군 장성과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정부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고위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정치인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이며 잘나가는만큼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호화로운 저택에서 살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고있다.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그렇기때문에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원수를 제압하려면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잠입은 필수로 해야하며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구조물 뒤에 숨거나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무기를 활용하여 NPC들을 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제압하는 등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어떻게 할 것인지는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유저의 마음이다.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77199c772_0_10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g3677199c772_0_103"/>
          <p:cNvSpPr/>
          <p:nvPr/>
        </p:nvSpPr>
        <p:spPr>
          <a:xfrm>
            <a:off x="0" y="6007596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g3677199c772_0_103"/>
          <p:cNvSpPr/>
          <p:nvPr/>
        </p:nvSpPr>
        <p:spPr>
          <a:xfrm>
            <a:off x="0" y="0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g3677199c772_0_103"/>
          <p:cNvSpPr txBox="1"/>
          <p:nvPr/>
        </p:nvSpPr>
        <p:spPr>
          <a:xfrm>
            <a:off x="479376" y="1196752"/>
            <a:ext cx="36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구성 &amp; 게임 핵심 메커니즘 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g3677199c772_0_103"/>
          <p:cNvSpPr txBox="1"/>
          <p:nvPr/>
        </p:nvSpPr>
        <p:spPr>
          <a:xfrm>
            <a:off x="737300" y="2224350"/>
            <a:ext cx="26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Noto Sans KR"/>
              <a:buChar char="●"/>
            </a:pPr>
            <a:r>
              <a:rPr b="1" lang="ko-KR" sz="2000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제압</a:t>
            </a:r>
            <a:endParaRPr b="1" i="0" sz="2000" u="none" cap="none" strike="noStrike">
              <a:solidFill>
                <a:srgbClr val="BFBFB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g3677199c772_0_103"/>
          <p:cNvSpPr txBox="1"/>
          <p:nvPr/>
        </p:nvSpPr>
        <p:spPr>
          <a:xfrm>
            <a:off x="743250" y="2823950"/>
            <a:ext cx="33720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본 게임의 궁극적인 목표는 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원수를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제압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하는 것이다.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하지만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제압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의 방법 역시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굉장히 다채로우며 어떤 무기를 쓸 것인지,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방식으로 역경을 헤쳐나갈 것인지는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역시 유저의 </a:t>
            </a:r>
            <a:r>
              <a:rPr b="1" lang="ko-KR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판단</a:t>
            </a: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에 맡긴다.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c50265ea7_1_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g36c50265ea7_1_2"/>
          <p:cNvSpPr/>
          <p:nvPr/>
        </p:nvSpPr>
        <p:spPr>
          <a:xfrm>
            <a:off x="0" y="6007596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2" name="Google Shape;212;g36c50265ea7_1_2"/>
          <p:cNvSpPr/>
          <p:nvPr/>
        </p:nvSpPr>
        <p:spPr>
          <a:xfrm>
            <a:off x="0" y="0"/>
            <a:ext cx="12192000" cy="850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3" name="Google Shape;213;g36c50265ea7_1_2"/>
          <p:cNvSpPr txBox="1"/>
          <p:nvPr/>
        </p:nvSpPr>
        <p:spPr>
          <a:xfrm>
            <a:off x="479376" y="1196752"/>
            <a:ext cx="36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구성 &amp; 게임 핵심 메커니즘 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4" name="Google Shape;214;g36c50265ea7_1_2"/>
          <p:cNvSpPr txBox="1"/>
          <p:nvPr/>
        </p:nvSpPr>
        <p:spPr>
          <a:xfrm>
            <a:off x="737300" y="1614750"/>
            <a:ext cx="320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Noto Sans KR"/>
              <a:buChar char="●"/>
            </a:pPr>
            <a:r>
              <a:rPr b="1" lang="ko-KR" sz="2000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인게임 플레이 플로우차트</a:t>
            </a:r>
            <a:endParaRPr b="1" i="0" sz="2000" u="none" cap="none" strike="noStrike">
              <a:solidFill>
                <a:srgbClr val="BFBFB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5" name="Google Shape;215;g36c50265ea7_1_2" title="캡처.PNG"/>
          <p:cNvPicPr preferRelativeResize="0"/>
          <p:nvPr/>
        </p:nvPicPr>
        <p:blipFill rotWithShape="1">
          <a:blip r:embed="rId4">
            <a:alphaModFix/>
          </a:blip>
          <a:srcRect b="2334" l="2262" r="1463" t="0"/>
          <a:stretch/>
        </p:blipFill>
        <p:spPr>
          <a:xfrm>
            <a:off x="4301075" y="769275"/>
            <a:ext cx="4621275" cy="515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015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0" y="6007596"/>
            <a:ext cx="12192000" cy="850404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0" y="-5502"/>
            <a:ext cx="12192000" cy="850404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479375" y="1196750"/>
            <a:ext cx="34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레퍼런스: 어쌔신 크리드/히트맨</a:t>
            </a:r>
            <a:endParaRPr b="0" i="0" sz="1800" u="none" cap="none" strike="noStrike">
              <a:solidFill>
                <a:schemeClr val="lt1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479375" y="2541850"/>
            <a:ext cx="47457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어쌔신 크리드: </a:t>
            </a:r>
            <a:r>
              <a:rPr b="1" lang="ko-KR" sz="1600">
                <a:solidFill>
                  <a:schemeClr val="lt1"/>
                </a:solidFill>
              </a:rPr>
              <a:t>배경 아트, 캐릭터 아트는 </a:t>
            </a:r>
            <a:endParaRPr b="1" sz="16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solidFill>
                  <a:schemeClr val="lt1"/>
                </a:solidFill>
              </a:rPr>
              <a:t>어쌔신 크리드</a:t>
            </a:r>
            <a:r>
              <a:rPr b="1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에서</a:t>
            </a:r>
            <a:r>
              <a:rPr b="1" lang="ko-KR" sz="1600">
                <a:solidFill>
                  <a:schemeClr val="lt1"/>
                </a:solidFill>
              </a:rPr>
              <a:t> </a:t>
            </a:r>
            <a:r>
              <a:rPr b="1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영감을 받</a:t>
            </a:r>
            <a:r>
              <a:rPr b="1" lang="ko-KR" sz="1600">
                <a:solidFill>
                  <a:schemeClr val="lt1"/>
                </a:solidFill>
              </a:rPr>
              <a:t>았다.</a:t>
            </a:r>
            <a:endParaRPr b="1" sz="16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-KR" sz="1600">
                <a:solidFill>
                  <a:schemeClr val="lt1"/>
                </a:solidFill>
              </a:rPr>
              <a:t>히트맨: </a:t>
            </a:r>
            <a:r>
              <a:rPr b="1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잠입과 </a:t>
            </a:r>
            <a:r>
              <a:rPr b="1" lang="ko-KR" sz="1600">
                <a:solidFill>
                  <a:schemeClr val="lt1"/>
                </a:solidFill>
              </a:rPr>
              <a:t>기초 방식에</a:t>
            </a:r>
            <a:r>
              <a:rPr b="1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대한 다양한 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플레이스타일은</a:t>
            </a:r>
            <a:r>
              <a:rPr b="1" lang="ko-KR" sz="1600">
                <a:solidFill>
                  <a:schemeClr val="lt1"/>
                </a:solidFill>
              </a:rPr>
              <a:t> </a:t>
            </a:r>
            <a:r>
              <a:rPr b="1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히트맨에서 영감을 받았다.</a:t>
            </a:r>
            <a:endParaRPr b="0" i="0" sz="1800" u="none" cap="none" strike="noStrike">
              <a:solidFill>
                <a:srgbClr val="BFBFB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pic>
        <p:nvPicPr>
          <p:cNvPr id="225" name="Google Shape;225;p11" title="다운로드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7451" y="1855425"/>
            <a:ext cx="2935099" cy="117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1" title="다운로드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7445" y="4041414"/>
            <a:ext cx="2935106" cy="117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5"/>
          <p:cNvPicPr preferRelativeResize="0"/>
          <p:nvPr/>
        </p:nvPicPr>
        <p:blipFill rotWithShape="1">
          <a:blip r:embed="rId3">
            <a:alphaModFix/>
          </a:blip>
          <a:srcRect b="0" l="8307" r="0" t="14037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/>
          <p:nvPr/>
        </p:nvSpPr>
        <p:spPr>
          <a:xfrm>
            <a:off x="2135560" y="1556792"/>
            <a:ext cx="3960300" cy="3960300"/>
          </a:xfrm>
          <a:prstGeom prst="ellipse">
            <a:avLst/>
          </a:prstGeom>
          <a:solidFill>
            <a:schemeClr val="dk1">
              <a:alpha val="2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-96688" y="-171400"/>
            <a:ext cx="12457500" cy="71289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4580301" y="3044241"/>
            <a:ext cx="3103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ko-KR" sz="4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Thank you</a:t>
            </a:r>
            <a:endParaRPr b="0" i="0" sz="4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2012-01-24T11:15:58Z</dcterms:created>
  <dc:creator>Xnote</dc:creator>
</cp:coreProperties>
</file>